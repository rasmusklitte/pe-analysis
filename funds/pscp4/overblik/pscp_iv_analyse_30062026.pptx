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</p:sldIdLst>
  <p:sldSz cx="10691813" cy="601186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0" userDrawn="1">
          <p15:clr>
            <a:srgbClr val="A4A3A4"/>
          </p15:clr>
        </p15:guide>
        <p15:guide id="2" pos="5092" userDrawn="1">
          <p15:clr>
            <a:srgbClr val="A4A3A4"/>
          </p15:clr>
        </p15:guide>
        <p15:guide id="3" orient="horz" pos="2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 Iversen" initials="MI" lastIdx="4" clrIdx="0">
    <p:extLst>
      <p:ext uri="{19B8F6BF-5375-455C-9EA6-DF929625EA0E}">
        <p15:presenceInfo xmlns:p15="http://schemas.microsoft.com/office/powerpoint/2012/main" userId="S-1-5-21-1724592431-3588942217-342108644-1001" providerId="AD"/>
      </p:ext>
    </p:extLst>
  </p:cmAuthor>
  <p:cmAuthor id="2" name="Mark Iversen" initials="MI [2]" lastIdx="11" clrIdx="1">
    <p:extLst>
      <p:ext uri="{19B8F6BF-5375-455C-9EA6-DF929625EA0E}">
        <p15:presenceInfo xmlns:p15="http://schemas.microsoft.com/office/powerpoint/2012/main" userId="S::mi@radiant.dk::7cabe9ab-c691-480e-b32f-84bfb80117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FE5"/>
    <a:srgbClr val="5C5F4A"/>
    <a:srgbClr val="006600"/>
    <a:srgbClr val="262626"/>
    <a:srgbClr val="619DD1"/>
    <a:srgbClr val="1A5F57"/>
    <a:srgbClr val="6F91A7"/>
    <a:srgbClr val="D9D9D9"/>
    <a:srgbClr val="00529B"/>
    <a:srgbClr val="0053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95442" autoAdjust="0"/>
  </p:normalViewPr>
  <p:slideViewPr>
    <p:cSldViewPr snapToGrid="0">
      <p:cViewPr varScale="1">
        <p:scale>
          <a:sx n="172" d="100"/>
          <a:sy n="172" d="100"/>
        </p:scale>
        <p:origin x="630" y="144"/>
      </p:cViewPr>
      <p:guideLst>
        <p:guide orient="horz" pos="2030"/>
        <p:guide pos="5092"/>
        <p:guide orient="horz" pos="271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1" d="100"/>
          <a:sy n="101" d="100"/>
        </p:scale>
        <p:origin x="2814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>
            <a:extLst>
              <a:ext uri="{FF2B5EF4-FFF2-40B4-BE49-F238E27FC236}">
                <a16:creationId xmlns:a16="http://schemas.microsoft.com/office/drawing/2014/main" id="{23C99E3B-D535-3EE9-4061-4641204DD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F02A97A-3341-2333-A6F3-F843FB18EA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899" y="0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0DF6B-F186-4F1E-BC8A-3DE7DFAE8D10}" type="datetimeFigureOut">
              <a:rPr lang="da-DK" smtClean="0"/>
              <a:t>01-04-2026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9CD8F2B1-F5C0-B0F6-3D6B-A225874952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B3B0934-8E75-0972-11D8-45CFDD4BF8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899" y="9428403"/>
            <a:ext cx="2946189" cy="4982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1608A-CCEC-4B00-8F9A-4BF8AB4A81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5984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8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51" y="8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BBEDC-CB67-4B5C-9D0B-333E6277102D}" type="datetimeFigureOut">
              <a:rPr lang="da-DK" smtClean="0"/>
              <a:t>01-04-2026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202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942859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51" y="942859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0BE2B-A3BA-47D9-A68B-3EF11F291223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9599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orside_Produ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træ, plante, udendørs, piletræ&#10;&#10;Automatisk genereret beskrivelse">
            <a:extLst>
              <a:ext uri="{FF2B5EF4-FFF2-40B4-BE49-F238E27FC236}">
                <a16:creationId xmlns:a16="http://schemas.microsoft.com/office/drawing/2014/main" id="{31EC8DED-0FD6-0054-4EA6-8530585BF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5" t="10922" r="2694"/>
          <a:stretch/>
        </p:blipFill>
        <p:spPr>
          <a:xfrm>
            <a:off x="-1" y="0"/>
            <a:ext cx="10691813" cy="601186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CD7D3CC-4926-73E6-AFC0-1F4011A387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6673" y="3421302"/>
            <a:ext cx="8018463" cy="68550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Baskerville Old Face" panose="02020602080505020303" pitchFamily="18" charset="0"/>
              </a:defRPr>
            </a:lvl1pPr>
          </a:lstStyle>
          <a:p>
            <a:r>
              <a:rPr lang="da-DK" dirty="0"/>
              <a:t>Produkttitel 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9941FF1-F0C2-C03B-41E0-F078C43113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36674" y="4283943"/>
            <a:ext cx="8018463" cy="68550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Baskerville Old Face" panose="020206020805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Måned, år</a:t>
            </a:r>
          </a:p>
        </p:txBody>
      </p:sp>
      <p:pic>
        <p:nvPicPr>
          <p:cNvPr id="4" name="Billede 6">
            <a:extLst>
              <a:ext uri="{FF2B5EF4-FFF2-40B4-BE49-F238E27FC236}">
                <a16:creationId xmlns:a16="http://schemas.microsoft.com/office/drawing/2014/main" id="{AB47EE63-F39E-6446-BBBC-847B824782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3273" b="25583"/>
          <a:stretch/>
        </p:blipFill>
        <p:spPr>
          <a:xfrm>
            <a:off x="1799221" y="2590559"/>
            <a:ext cx="7093366" cy="83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_ku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træ, plante, udendørs, piletræ&#10;&#10;Automatisk genereret beskrivelse">
            <a:extLst>
              <a:ext uri="{FF2B5EF4-FFF2-40B4-BE49-F238E27FC236}">
                <a16:creationId xmlns:a16="http://schemas.microsoft.com/office/drawing/2014/main" id="{31EC8DED-0FD6-0054-4EA6-8530585BF1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5" t="10922" r="2694"/>
          <a:stretch/>
        </p:blipFill>
        <p:spPr>
          <a:xfrm>
            <a:off x="0" y="0"/>
            <a:ext cx="10691813" cy="601186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CD7D3CC-4926-73E6-AFC0-1F4011A387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6673" y="2903515"/>
            <a:ext cx="8018463" cy="685503"/>
          </a:xfrm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Baskerville Old Face" panose="02020602080505020303" pitchFamily="18" charset="0"/>
              </a:defRPr>
            </a:lvl1pPr>
          </a:lstStyle>
          <a:p>
            <a:r>
              <a:rPr lang="da-DK" dirty="0"/>
              <a:t>KUNDENAVN</a:t>
            </a:r>
          </a:p>
        </p:txBody>
      </p:sp>
      <p:pic>
        <p:nvPicPr>
          <p:cNvPr id="4" name="Billede 6">
            <a:extLst>
              <a:ext uri="{FF2B5EF4-FFF2-40B4-BE49-F238E27FC236}">
                <a16:creationId xmlns:a16="http://schemas.microsoft.com/office/drawing/2014/main" id="{AB47EE63-F39E-6446-BBBC-847B824782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3273" b="25583"/>
          <a:stretch/>
        </p:blipFill>
        <p:spPr>
          <a:xfrm>
            <a:off x="3297822" y="3675492"/>
            <a:ext cx="4096167" cy="479725"/>
          </a:xfrm>
          <a:prstGeom prst="rect">
            <a:avLst/>
          </a:prstGeom>
        </p:spPr>
      </p:pic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18125F78-0621-0917-5BB3-86B4D1BD62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88618" y="4245747"/>
            <a:ext cx="2314575" cy="336824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>
                <a:latin typeface="+mj-lt"/>
              </a:rPr>
              <a:t>Måned, år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6314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B8F221D6-E011-DC32-8AF3-FF5CC65A1CA7}"/>
              </a:ext>
            </a:extLst>
          </p:cNvPr>
          <p:cNvSpPr/>
          <p:nvPr userDrawn="1"/>
        </p:nvSpPr>
        <p:spPr>
          <a:xfrm>
            <a:off x="6918715" y="996753"/>
            <a:ext cx="3161211" cy="4266121"/>
          </a:xfrm>
          <a:prstGeom prst="rect">
            <a:avLst/>
          </a:prstGeom>
          <a:solidFill>
            <a:srgbClr val="5C5F4A"/>
          </a:solidFill>
          <a:ln>
            <a:solidFill>
              <a:srgbClr val="5C5F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124C1A5-FFA4-A6FE-3A14-B53198BAE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77FA8C2-600D-420D-8C79-33897368C5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58AA9A2B-EACE-7370-706A-E9E8833EF224}"/>
              </a:ext>
            </a:extLst>
          </p:cNvPr>
          <p:cNvSpPr txBox="1"/>
          <p:nvPr userDrawn="1"/>
        </p:nvSpPr>
        <p:spPr>
          <a:xfrm>
            <a:off x="607493" y="180544"/>
            <a:ext cx="5841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600" dirty="0">
                <a:latin typeface="Baskerville Old Face" panose="02020602080505020303" pitchFamily="18" charset="0"/>
              </a:rPr>
              <a:t>Agenda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B1E996E-4ACD-87D3-D6C4-6915B2E711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9300" y="1388731"/>
            <a:ext cx="936000" cy="93600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Portrætbillede</a:t>
            </a:r>
          </a:p>
          <a:p>
            <a:r>
              <a:rPr lang="da-DK" dirty="0"/>
              <a:t>Sti: PPIM(P:),</a:t>
            </a:r>
            <a:br>
              <a:rPr lang="da-DK" dirty="0"/>
            </a:br>
            <a:r>
              <a:rPr lang="da-DK" dirty="0" err="1"/>
              <a:t>Employees</a:t>
            </a:r>
            <a:r>
              <a:rPr lang="da-DK" dirty="0"/>
              <a:t>, Billeder, </a:t>
            </a:r>
            <a:br>
              <a:rPr lang="da-DK" dirty="0"/>
            </a:br>
            <a:r>
              <a:rPr lang="da-DK" dirty="0"/>
              <a:t>Nye portrætter, </a:t>
            </a:r>
            <a:br>
              <a:rPr lang="da-DK" dirty="0"/>
            </a:br>
            <a:r>
              <a:rPr lang="da-DK" dirty="0" err="1"/>
              <a:t>pp_redigeret</a:t>
            </a:r>
            <a:r>
              <a:rPr lang="da-DK" dirty="0"/>
              <a:t>, navn</a:t>
            </a:r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A14EF73A-B1CD-2E1F-76FD-4A94A83FCA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47842" y="1649826"/>
            <a:ext cx="1942305" cy="20690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Navn</a:t>
            </a:r>
          </a:p>
        </p:txBody>
      </p:sp>
      <p:sp>
        <p:nvSpPr>
          <p:cNvPr id="13" name="Pladsholder til indhold 2">
            <a:extLst>
              <a:ext uri="{FF2B5EF4-FFF2-40B4-BE49-F238E27FC236}">
                <a16:creationId xmlns:a16="http://schemas.microsoft.com/office/drawing/2014/main" id="{2162AB39-D556-70FC-5487-6B4654AA00D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1664" y="1656499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2</a:t>
            </a:r>
          </a:p>
        </p:txBody>
      </p:sp>
      <p:sp>
        <p:nvSpPr>
          <p:cNvPr id="15" name="Pladsholder til indhold 2">
            <a:extLst>
              <a:ext uri="{FF2B5EF4-FFF2-40B4-BE49-F238E27FC236}">
                <a16:creationId xmlns:a16="http://schemas.microsoft.com/office/drawing/2014/main" id="{9E70C9C7-61D2-825D-00E7-9C773629E6C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1664" y="2314748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3</a:t>
            </a:r>
          </a:p>
        </p:txBody>
      </p:sp>
      <p:sp>
        <p:nvSpPr>
          <p:cNvPr id="16" name="Pladsholder til indhold 2">
            <a:extLst>
              <a:ext uri="{FF2B5EF4-FFF2-40B4-BE49-F238E27FC236}">
                <a16:creationId xmlns:a16="http://schemas.microsoft.com/office/drawing/2014/main" id="{AE46D414-F20B-6263-B59C-E70B1D79D58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01664" y="2972997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4</a:t>
            </a:r>
          </a:p>
        </p:txBody>
      </p:sp>
      <p:sp>
        <p:nvSpPr>
          <p:cNvPr id="17" name="Pladsholder til indhold 2">
            <a:extLst>
              <a:ext uri="{FF2B5EF4-FFF2-40B4-BE49-F238E27FC236}">
                <a16:creationId xmlns:a16="http://schemas.microsoft.com/office/drawing/2014/main" id="{D8094254-FFBE-EB65-06DE-9141FB2312D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01664" y="3631246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5</a:t>
            </a:r>
          </a:p>
        </p:txBody>
      </p:sp>
      <p:sp>
        <p:nvSpPr>
          <p:cNvPr id="18" name="Pladsholder til indhold 2">
            <a:extLst>
              <a:ext uri="{FF2B5EF4-FFF2-40B4-BE49-F238E27FC236}">
                <a16:creationId xmlns:a16="http://schemas.microsoft.com/office/drawing/2014/main" id="{F22020D3-40DD-982A-7B55-6B7917A8894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01664" y="4289495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6</a:t>
            </a:r>
          </a:p>
        </p:txBody>
      </p:sp>
      <p:sp>
        <p:nvSpPr>
          <p:cNvPr id="19" name="Pladsholder til tekst 11">
            <a:extLst>
              <a:ext uri="{FF2B5EF4-FFF2-40B4-BE49-F238E27FC236}">
                <a16:creationId xmlns:a16="http://schemas.microsoft.com/office/drawing/2014/main" id="{C860063A-C63E-FE57-1B74-302F8D6FCD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7843" y="1856732"/>
            <a:ext cx="1864590" cy="1905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Jobtitel</a:t>
            </a:r>
          </a:p>
        </p:txBody>
      </p:sp>
      <p:sp>
        <p:nvSpPr>
          <p:cNvPr id="20" name="Pladsholder til indhold 2">
            <a:extLst>
              <a:ext uri="{FF2B5EF4-FFF2-40B4-BE49-F238E27FC236}">
                <a16:creationId xmlns:a16="http://schemas.microsoft.com/office/drawing/2014/main" id="{EE9B3102-1696-B945-0E96-916FD32D840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01664" y="4947744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7</a:t>
            </a:r>
          </a:p>
        </p:txBody>
      </p:sp>
      <p:sp>
        <p:nvSpPr>
          <p:cNvPr id="21" name="Pladsholder til billede 2">
            <a:extLst>
              <a:ext uri="{FF2B5EF4-FFF2-40B4-BE49-F238E27FC236}">
                <a16:creationId xmlns:a16="http://schemas.microsoft.com/office/drawing/2014/main" id="{2D3351B4-C01B-1226-0072-27E55E5EACD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139300" y="2658961"/>
            <a:ext cx="936000" cy="93600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Portrætbillede</a:t>
            </a:r>
          </a:p>
          <a:p>
            <a:r>
              <a:rPr lang="da-DK" dirty="0"/>
              <a:t>Sti: PPIM(P:),</a:t>
            </a:r>
            <a:br>
              <a:rPr lang="da-DK" dirty="0"/>
            </a:br>
            <a:r>
              <a:rPr lang="da-DK" dirty="0" err="1"/>
              <a:t>Employees</a:t>
            </a:r>
            <a:r>
              <a:rPr lang="da-DK" dirty="0"/>
              <a:t>, Fotos, </a:t>
            </a:r>
            <a:br>
              <a:rPr lang="da-DK" dirty="0"/>
            </a:br>
            <a:r>
              <a:rPr lang="da-DK" dirty="0"/>
              <a:t>Nye portrætter, </a:t>
            </a:r>
            <a:br>
              <a:rPr lang="da-DK" dirty="0"/>
            </a:br>
            <a:r>
              <a:rPr lang="da-DK" dirty="0" err="1"/>
              <a:t>pp_redigeret</a:t>
            </a:r>
            <a:r>
              <a:rPr lang="da-DK" dirty="0"/>
              <a:t>, navn</a:t>
            </a:r>
          </a:p>
        </p:txBody>
      </p:sp>
      <p:sp>
        <p:nvSpPr>
          <p:cNvPr id="24" name="Pladsholder til billede 2">
            <a:extLst>
              <a:ext uri="{FF2B5EF4-FFF2-40B4-BE49-F238E27FC236}">
                <a16:creationId xmlns:a16="http://schemas.microsoft.com/office/drawing/2014/main" id="{F3FAB199-F174-695E-92B4-B4F42DFD24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139300" y="3915895"/>
            <a:ext cx="936000" cy="936000"/>
          </a:xfrm>
        </p:spPr>
        <p:txBody>
          <a:bodyPr>
            <a:norm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Portrætbillede</a:t>
            </a:r>
          </a:p>
          <a:p>
            <a:r>
              <a:rPr lang="da-DK" dirty="0"/>
              <a:t>Sti: PPIM(P:),</a:t>
            </a:r>
            <a:br>
              <a:rPr lang="da-DK" dirty="0"/>
            </a:br>
            <a:r>
              <a:rPr lang="da-DK" dirty="0" err="1"/>
              <a:t>Employees</a:t>
            </a:r>
            <a:r>
              <a:rPr lang="da-DK" dirty="0"/>
              <a:t>, Fotos, </a:t>
            </a:r>
            <a:br>
              <a:rPr lang="da-DK" dirty="0"/>
            </a:br>
            <a:r>
              <a:rPr lang="da-DK" dirty="0"/>
              <a:t>Nye portrætter, </a:t>
            </a:r>
            <a:br>
              <a:rPr lang="da-DK" dirty="0"/>
            </a:br>
            <a:r>
              <a:rPr lang="da-DK" dirty="0" err="1"/>
              <a:t>pp_redigeret</a:t>
            </a:r>
            <a:r>
              <a:rPr lang="da-DK" dirty="0"/>
              <a:t>, navn</a:t>
            </a:r>
          </a:p>
        </p:txBody>
      </p:sp>
      <p:sp>
        <p:nvSpPr>
          <p:cNvPr id="27" name="Pladsholder til tekst 11">
            <a:extLst>
              <a:ext uri="{FF2B5EF4-FFF2-40B4-BE49-F238E27FC236}">
                <a16:creationId xmlns:a16="http://schemas.microsoft.com/office/drawing/2014/main" id="{647B847D-7936-3658-C42F-7F1C00F9CE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47843" y="2905103"/>
            <a:ext cx="1942304" cy="22471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Navn</a:t>
            </a:r>
          </a:p>
        </p:txBody>
      </p:sp>
      <p:sp>
        <p:nvSpPr>
          <p:cNvPr id="28" name="Pladsholder til tekst 11">
            <a:extLst>
              <a:ext uri="{FF2B5EF4-FFF2-40B4-BE49-F238E27FC236}">
                <a16:creationId xmlns:a16="http://schemas.microsoft.com/office/drawing/2014/main" id="{1B1F5555-70E6-B4ED-8338-2098BFDDE71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7843" y="3129815"/>
            <a:ext cx="1864588" cy="1904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Jobtitel</a:t>
            </a:r>
          </a:p>
        </p:txBody>
      </p:sp>
      <p:sp>
        <p:nvSpPr>
          <p:cNvPr id="29" name="Pladsholder til tekst 11">
            <a:extLst>
              <a:ext uri="{FF2B5EF4-FFF2-40B4-BE49-F238E27FC236}">
                <a16:creationId xmlns:a16="http://schemas.microsoft.com/office/drawing/2014/main" id="{25EC2F06-74B2-5D89-F8A2-6BF625B06B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7842" y="4170429"/>
            <a:ext cx="1942304" cy="21763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Navn</a:t>
            </a:r>
          </a:p>
        </p:txBody>
      </p:sp>
      <p:sp>
        <p:nvSpPr>
          <p:cNvPr id="30" name="Pladsholder til tekst 11">
            <a:extLst>
              <a:ext uri="{FF2B5EF4-FFF2-40B4-BE49-F238E27FC236}">
                <a16:creationId xmlns:a16="http://schemas.microsoft.com/office/drawing/2014/main" id="{76756BB5-4266-15BC-1D8F-5A27AFEDAA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47843" y="4388059"/>
            <a:ext cx="1862064" cy="1904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Jobtitel</a:t>
            </a:r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ADAD11A8-867D-B827-7EA3-9264E6B18CE0}"/>
              </a:ext>
            </a:extLst>
          </p:cNvPr>
          <p:cNvCxnSpPr>
            <a:cxnSpLocks/>
          </p:cNvCxnSpPr>
          <p:nvPr userDrawn="1"/>
        </p:nvCxnSpPr>
        <p:spPr>
          <a:xfrm>
            <a:off x="601664" y="1314130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227F1D06-D6D9-C361-6E32-EB35CF2184DD}"/>
              </a:ext>
            </a:extLst>
          </p:cNvPr>
          <p:cNvCxnSpPr>
            <a:cxnSpLocks/>
          </p:cNvCxnSpPr>
          <p:nvPr userDrawn="1"/>
        </p:nvCxnSpPr>
        <p:spPr>
          <a:xfrm>
            <a:off x="601664" y="1968777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7609AF06-79DF-4C39-6B29-B4C6D3EC8FE0}"/>
              </a:ext>
            </a:extLst>
          </p:cNvPr>
          <p:cNvCxnSpPr>
            <a:cxnSpLocks/>
          </p:cNvCxnSpPr>
          <p:nvPr userDrawn="1"/>
        </p:nvCxnSpPr>
        <p:spPr>
          <a:xfrm>
            <a:off x="601664" y="2627026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3FFAE6D5-BA54-9F54-1879-708418448AD7}"/>
              </a:ext>
            </a:extLst>
          </p:cNvPr>
          <p:cNvCxnSpPr>
            <a:cxnSpLocks/>
          </p:cNvCxnSpPr>
          <p:nvPr userDrawn="1"/>
        </p:nvCxnSpPr>
        <p:spPr>
          <a:xfrm>
            <a:off x="601664" y="3279055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407D21F2-7731-4C06-5AC0-F5CD40146339}"/>
              </a:ext>
            </a:extLst>
          </p:cNvPr>
          <p:cNvCxnSpPr>
            <a:cxnSpLocks/>
          </p:cNvCxnSpPr>
          <p:nvPr userDrawn="1"/>
        </p:nvCxnSpPr>
        <p:spPr>
          <a:xfrm>
            <a:off x="601664" y="3943524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75DFE266-4C00-288A-6578-65BEA677A22E}"/>
              </a:ext>
            </a:extLst>
          </p:cNvPr>
          <p:cNvCxnSpPr>
            <a:cxnSpLocks/>
          </p:cNvCxnSpPr>
          <p:nvPr userDrawn="1"/>
        </p:nvCxnSpPr>
        <p:spPr>
          <a:xfrm>
            <a:off x="601664" y="4601773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975A9891-D5AC-FC01-B241-849B1B8B4761}"/>
              </a:ext>
            </a:extLst>
          </p:cNvPr>
          <p:cNvCxnSpPr>
            <a:cxnSpLocks/>
          </p:cNvCxnSpPr>
          <p:nvPr userDrawn="1"/>
        </p:nvCxnSpPr>
        <p:spPr>
          <a:xfrm>
            <a:off x="601664" y="5261894"/>
            <a:ext cx="5942234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ladsholder til tekst 11">
            <a:extLst>
              <a:ext uri="{FF2B5EF4-FFF2-40B4-BE49-F238E27FC236}">
                <a16:creationId xmlns:a16="http://schemas.microsoft.com/office/drawing/2014/main" id="{DCB1AD7A-D615-E361-45EF-481F413EFD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47842" y="2075203"/>
            <a:ext cx="1864590" cy="1905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Mail</a:t>
            </a:r>
          </a:p>
        </p:txBody>
      </p:sp>
      <p:sp>
        <p:nvSpPr>
          <p:cNvPr id="31" name="Pladsholder til tekst 11">
            <a:extLst>
              <a:ext uri="{FF2B5EF4-FFF2-40B4-BE49-F238E27FC236}">
                <a16:creationId xmlns:a16="http://schemas.microsoft.com/office/drawing/2014/main" id="{65AC8B09-7B44-D29E-995A-F1E7F38D70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45319" y="3329638"/>
            <a:ext cx="1864588" cy="1904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Mail</a:t>
            </a:r>
          </a:p>
        </p:txBody>
      </p:sp>
      <p:sp>
        <p:nvSpPr>
          <p:cNvPr id="32" name="Pladsholder til tekst 11">
            <a:extLst>
              <a:ext uri="{FF2B5EF4-FFF2-40B4-BE49-F238E27FC236}">
                <a16:creationId xmlns:a16="http://schemas.microsoft.com/office/drawing/2014/main" id="{9A7A1F1D-1C15-7D76-9A3C-ECBE35EDC8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47843" y="4594964"/>
            <a:ext cx="1862064" cy="19049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Mail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5198BE0A-F49A-B111-CE54-889144867132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591443" y="995465"/>
            <a:ext cx="5942234" cy="31227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Punkt 1</a:t>
            </a:r>
          </a:p>
        </p:txBody>
      </p:sp>
    </p:spTree>
    <p:extLst>
      <p:ext uri="{BB962C8B-B14F-4D97-AF65-F5344CB8AC3E}">
        <p14:creationId xmlns:p14="http://schemas.microsoft.com/office/powerpoint/2010/main" val="359478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2F76D-8C3D-D9B4-166E-45A7C692A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53BF383-5C61-7D90-AEE5-1D7C31705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FC0E0F2-C6CB-CE3D-3B25-D7F860E4369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7493" y="1306179"/>
            <a:ext cx="9482656" cy="4101844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 marL="3657600" indent="0">
              <a:buNone/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r>
              <a:rPr lang="da-DK" dirty="0"/>
              <a:t>						</a:t>
            </a:r>
          </a:p>
        </p:txBody>
      </p:sp>
      <p:sp>
        <p:nvSpPr>
          <p:cNvPr id="5" name="Pladsholder til indhold 2">
            <a:extLst>
              <a:ext uri="{FF2B5EF4-FFF2-40B4-BE49-F238E27FC236}">
                <a16:creationId xmlns:a16="http://schemas.microsoft.com/office/drawing/2014/main" id="{B297B3A9-0236-A163-750F-36C60B6DDC5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1662" y="993901"/>
            <a:ext cx="9482656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</p:spTree>
    <p:extLst>
      <p:ext uri="{BB962C8B-B14F-4D97-AF65-F5344CB8AC3E}">
        <p14:creationId xmlns:p14="http://schemas.microsoft.com/office/powerpoint/2010/main" val="89448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basic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A2F76D-8C3D-D9B4-166E-45A7C692A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53BF383-5C61-7D90-AEE5-1D7C31705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FC0E0F2-C6CB-CE3D-3B25-D7F860E4369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7493" y="1019971"/>
            <a:ext cx="9482656" cy="4388052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marL="1828800" indent="0" algn="l">
              <a:buNone/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 marL="3657600" indent="0">
              <a:buNone/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r>
              <a:rPr lang="da-DK" dirty="0"/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67285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2F4A6A-0396-2181-2023-7FE8177FF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53CBA301-B944-0713-C143-CED9615A984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1662" y="993901"/>
            <a:ext cx="457463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5" name="Pladsholder til indhold 2">
            <a:extLst>
              <a:ext uri="{FF2B5EF4-FFF2-40B4-BE49-F238E27FC236}">
                <a16:creationId xmlns:a16="http://schemas.microsoft.com/office/drawing/2014/main" id="{6D45304E-6E66-9C2A-934C-9A0F5DF0FD1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1662" y="1306180"/>
            <a:ext cx="4574638" cy="18337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0"/>
            <a:endParaRPr lang="da-DK" dirty="0"/>
          </a:p>
          <a:p>
            <a:pPr lvl="8"/>
            <a:endParaRPr lang="da-DK" dirty="0"/>
          </a:p>
          <a:p>
            <a:pPr lvl="0"/>
            <a:endParaRPr lang="da-DK" dirty="0"/>
          </a:p>
        </p:txBody>
      </p:sp>
      <p:sp>
        <p:nvSpPr>
          <p:cNvPr id="7" name="Pladsholder til diagram 6">
            <a:extLst>
              <a:ext uri="{FF2B5EF4-FFF2-40B4-BE49-F238E27FC236}">
                <a16:creationId xmlns:a16="http://schemas.microsoft.com/office/drawing/2014/main" id="{B1696B58-07E6-8F7D-01EA-0E7676197A3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515509" y="993901"/>
            <a:ext cx="4574638" cy="437991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da-DK" dirty="0"/>
              <a:t>Indsæt evt. diagram eller lign.</a:t>
            </a:r>
          </a:p>
          <a:p>
            <a:pPr lvl="8"/>
            <a:endParaRPr lang="da-DK" dirty="0"/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54A9F537-DA9B-33DB-4DBE-F294AC487EF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1660" y="3139908"/>
            <a:ext cx="457463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6" name="Pladsholder til slidenummer 3">
            <a:extLst>
              <a:ext uri="{FF2B5EF4-FFF2-40B4-BE49-F238E27FC236}">
                <a16:creationId xmlns:a16="http://schemas.microsoft.com/office/drawing/2014/main" id="{A2839847-992A-BF5B-902A-FF08B624AC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685085" y="5676167"/>
            <a:ext cx="2405062" cy="320675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77FA8C2-600D-420D-8C79-33897368C5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A46EC64-466A-9A68-91E2-7569DBA2B22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01660" y="3452186"/>
            <a:ext cx="4574638" cy="18337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2181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5FACF-2F5B-04CA-C311-4AE20478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7AC9407E-D366-0290-86AC-EA551781C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D993580B-C89F-804A-8144-F62569BC141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1660" y="1306179"/>
            <a:ext cx="4574639" cy="4101844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718B46CE-FE35-DE36-B501-AABCB5F67A9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1661" y="993901"/>
            <a:ext cx="4574639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8" name="Pladsholder til diagram 6">
            <a:extLst>
              <a:ext uri="{FF2B5EF4-FFF2-40B4-BE49-F238E27FC236}">
                <a16:creationId xmlns:a16="http://schemas.microsoft.com/office/drawing/2014/main" id="{421B4D2E-D8C2-4F79-05B9-D1118A1E269A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5515507" y="993901"/>
            <a:ext cx="4574640" cy="437991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da-DK" dirty="0"/>
              <a:t>Indsæt evt. diagram eller lign.</a:t>
            </a:r>
          </a:p>
          <a:p>
            <a:pPr lvl="8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0021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536AF7-FD91-4C61-6854-502A41EA0B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CFB2A234-F16A-10B1-30DF-9227C1DD8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4A4D1AC3-552B-DB70-AA8C-36BA5CF2FE9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1662" y="993901"/>
            <a:ext cx="4558735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5" name="Pladsholder til indhold 2">
            <a:extLst>
              <a:ext uri="{FF2B5EF4-FFF2-40B4-BE49-F238E27FC236}">
                <a16:creationId xmlns:a16="http://schemas.microsoft.com/office/drawing/2014/main" id="{C44BAFA0-55E3-572F-6A8B-FF96FAB6CAA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1662" y="1306180"/>
            <a:ext cx="4558735" cy="18337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0753B8BC-27B9-DADC-AA1B-C9A0779662C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1660" y="3139908"/>
            <a:ext cx="4558735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D0A205AC-0B49-F258-301F-ABADCBD9A6D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1660" y="3452186"/>
            <a:ext cx="4558735" cy="19216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A4FA6E19-7E1F-3688-C668-909202F7B26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531413" y="993900"/>
            <a:ext cx="4558735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9" name="Pladsholder til indhold 2">
            <a:extLst>
              <a:ext uri="{FF2B5EF4-FFF2-40B4-BE49-F238E27FC236}">
                <a16:creationId xmlns:a16="http://schemas.microsoft.com/office/drawing/2014/main" id="{B107BDB8-A406-64AC-EDF4-F77F87B1901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531413" y="1306179"/>
            <a:ext cx="4558735" cy="18337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4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Indsæt tekst</a:t>
            </a:r>
          </a:p>
          <a:p>
            <a:pPr lvl="0"/>
            <a:endParaRPr lang="da-DK" dirty="0"/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148702E3-2384-CCAA-20D9-ABECC81C68C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531411" y="3139907"/>
            <a:ext cx="4558735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77721F27-26C0-9FBD-B97B-92A9204CB16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531411" y="3452185"/>
            <a:ext cx="4558735" cy="1921628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8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9780525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F5E46D-170C-3C9C-74EE-8A136A69E1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 dirty="0"/>
              <a:t>Slide-overskrift </a:t>
            </a:r>
          </a:p>
        </p:txBody>
      </p:sp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DB555930-4310-37A4-61A9-24A68A419A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t>‹nr.›</a:t>
            </a:fld>
            <a:endParaRPr lang="da-DK" dirty="0"/>
          </a:p>
        </p:txBody>
      </p:sp>
      <p:sp>
        <p:nvSpPr>
          <p:cNvPr id="6" name="Pladsholder til indhold 2">
            <a:extLst>
              <a:ext uri="{FF2B5EF4-FFF2-40B4-BE49-F238E27FC236}">
                <a16:creationId xmlns:a16="http://schemas.microsoft.com/office/drawing/2014/main" id="{17DF1A56-17CD-40AB-B3EC-97D6625FC0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1662" y="993901"/>
            <a:ext cx="454808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A8C71F77-BB7D-21B9-9C5A-2A8D7B5DBE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1662" y="1306180"/>
            <a:ext cx="4548088" cy="1144412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0"/>
            <a:endParaRPr lang="da-DK" dirty="0"/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E8E3216B-9AF5-3B4D-BC47-FC3FFEBC5AC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1662" y="2450592"/>
            <a:ext cx="454808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9" name="Pladsholder til indhold 2">
            <a:extLst>
              <a:ext uri="{FF2B5EF4-FFF2-40B4-BE49-F238E27FC236}">
                <a16:creationId xmlns:a16="http://schemas.microsoft.com/office/drawing/2014/main" id="{ABFBEF50-DA2A-A01A-086F-940AAAD0FF5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01662" y="2762871"/>
            <a:ext cx="4548088" cy="1144412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3"/>
            <a:endParaRPr lang="da-DK" dirty="0"/>
          </a:p>
          <a:p>
            <a:pPr lvl="0"/>
            <a:endParaRPr lang="da-DK" dirty="0"/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EC834F2A-DF7D-380E-261C-C4440419E3C7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1662" y="3907282"/>
            <a:ext cx="4548088" cy="312278"/>
          </a:xfrm>
        </p:spPr>
        <p:txBody>
          <a:bodyPr anchor="ctr">
            <a:normAutofit/>
          </a:bodyPr>
          <a:lstStyle>
            <a:lvl1pPr marL="0" indent="0">
              <a:buNone/>
              <a:defRPr sz="1200" b="1"/>
            </a:lvl1pPr>
            <a:lvl2pPr algn="l">
              <a:defRPr sz="1600"/>
            </a:lvl2pPr>
            <a:lvl3pPr algn="l">
              <a:defRPr sz="14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da-DK" dirty="0"/>
              <a:t>Underoverskrift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57F148AC-32C4-9832-E9F6-E81B8DA9583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01662" y="4219561"/>
            <a:ext cx="4548088" cy="115425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 dirty="0"/>
              <a:t>Indsæt tekst</a:t>
            </a:r>
          </a:p>
          <a:p>
            <a:pPr lvl="8"/>
            <a:endParaRPr lang="da-DK" dirty="0"/>
          </a:p>
          <a:p>
            <a:pPr lvl="0"/>
            <a:endParaRPr lang="da-DK" dirty="0"/>
          </a:p>
        </p:txBody>
      </p:sp>
      <p:sp>
        <p:nvSpPr>
          <p:cNvPr id="12" name="Pladsholder til diagram 6">
            <a:extLst>
              <a:ext uri="{FF2B5EF4-FFF2-40B4-BE49-F238E27FC236}">
                <a16:creationId xmlns:a16="http://schemas.microsoft.com/office/drawing/2014/main" id="{E3022A72-A833-CE2F-A4B4-9E6CE90F5A7C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542059" y="993901"/>
            <a:ext cx="4548088" cy="437991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/>
            </a:lvl1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da-DK" dirty="0"/>
              <a:t>Indsæt evt. diagram eller lign.</a:t>
            </a:r>
          </a:p>
          <a:p>
            <a:pPr lvl="8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4926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7FDC814A-3A22-099F-3144-B4E8C4E88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FA8C2-600D-420D-8C79-33897368C59E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8E8B17F-14DD-C0BB-D06B-11D7D3D1ED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65554" y="671265"/>
            <a:ext cx="9524593" cy="1427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0907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de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udendørs, efterår, landskab, vildnis&#10;&#10;Automatisk genereret beskrivelse">
            <a:extLst>
              <a:ext uri="{FF2B5EF4-FFF2-40B4-BE49-F238E27FC236}">
                <a16:creationId xmlns:a16="http://schemas.microsoft.com/office/drawing/2014/main" id="{30251998-021E-3DDD-5D43-D97FEDED3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" t="4325" r="19343"/>
          <a:stretch/>
        </p:blipFill>
        <p:spPr>
          <a:xfrm>
            <a:off x="-1" y="-1"/>
            <a:ext cx="10691813" cy="601186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223F7AC-C4FD-EC7C-6A97-299DE2FC0B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642868"/>
            <a:ext cx="9488488" cy="72612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Skriv titel </a:t>
            </a:r>
          </a:p>
        </p:txBody>
      </p:sp>
    </p:spTree>
    <p:extLst>
      <p:ext uri="{BB962C8B-B14F-4D97-AF65-F5344CB8AC3E}">
        <p14:creationId xmlns:p14="http://schemas.microsoft.com/office/powerpoint/2010/main" val="1484892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de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udendørs, vand, sky, Kystformationer&#10;&#10;Automatisk genereret beskrivelse">
            <a:extLst>
              <a:ext uri="{FF2B5EF4-FFF2-40B4-BE49-F238E27FC236}">
                <a16:creationId xmlns:a16="http://schemas.microsoft.com/office/drawing/2014/main" id="{555503A5-3C08-E3F1-6678-097515C7FF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" y="0"/>
            <a:ext cx="10687756" cy="601186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C4AF617-45D2-6F22-32BA-A5B4036937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642868"/>
            <a:ext cx="9488488" cy="72612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noProof="0" dirty="0"/>
              <a:t>Skriv titel </a:t>
            </a:r>
          </a:p>
        </p:txBody>
      </p:sp>
    </p:spTree>
    <p:extLst>
      <p:ext uri="{BB962C8B-B14F-4D97-AF65-F5344CB8AC3E}">
        <p14:creationId xmlns:p14="http://schemas.microsoft.com/office/powerpoint/2010/main" val="1810790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de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 descr="Et billede, der indeholder bygning, bygningsmateriale, sten, klippe&#10;&#10;Automatisk genereret beskrivelse">
            <a:extLst>
              <a:ext uri="{FF2B5EF4-FFF2-40B4-BE49-F238E27FC236}">
                <a16:creationId xmlns:a16="http://schemas.microsoft.com/office/drawing/2014/main" id="{6C2EB764-0B56-697E-8A4E-5D9141C1B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8" r="29145"/>
          <a:stretch/>
        </p:blipFill>
        <p:spPr>
          <a:xfrm>
            <a:off x="-1" y="-1"/>
            <a:ext cx="10691813" cy="601186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408C568-D796-5135-C9F1-7B8AD9A7C8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642868"/>
            <a:ext cx="9488488" cy="72612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 noProof="0" dirty="0"/>
              <a:t>Skriv titel </a:t>
            </a:r>
          </a:p>
        </p:txBody>
      </p:sp>
    </p:spTree>
    <p:extLst>
      <p:ext uri="{BB962C8B-B14F-4D97-AF65-F5344CB8AC3E}">
        <p14:creationId xmlns:p14="http://schemas.microsoft.com/office/powerpoint/2010/main" val="3968013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de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 descr="Et billede, der indeholder udendørs, sky, vand, solnedgang&#10;&#10;Automatisk genereret beskrivelse">
            <a:extLst>
              <a:ext uri="{FF2B5EF4-FFF2-40B4-BE49-F238E27FC236}">
                <a16:creationId xmlns:a16="http://schemas.microsoft.com/office/drawing/2014/main" id="{116486B9-CE4E-9687-AB79-B9BF4ED810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" y="0"/>
            <a:ext cx="10686001" cy="601186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6F49D34-DD7C-A2CF-2633-FDB1384E0C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642868"/>
            <a:ext cx="9488488" cy="72612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noProof="0" dirty="0"/>
              <a:t>Overskrift </a:t>
            </a:r>
          </a:p>
        </p:txBody>
      </p:sp>
    </p:spTree>
    <p:extLst>
      <p:ext uri="{BB962C8B-B14F-4D97-AF65-F5344CB8AC3E}">
        <p14:creationId xmlns:p14="http://schemas.microsoft.com/office/powerpoint/2010/main" val="2716389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-slide fondmæg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222EA6B8-5D74-4032-E779-328C20128EE6}"/>
              </a:ext>
            </a:extLst>
          </p:cNvPr>
          <p:cNvSpPr/>
          <p:nvPr userDrawn="1"/>
        </p:nvSpPr>
        <p:spPr>
          <a:xfrm>
            <a:off x="-1" y="-1"/>
            <a:ext cx="10691813" cy="6011863"/>
          </a:xfrm>
          <a:prstGeom prst="rect">
            <a:avLst/>
          </a:prstGeom>
          <a:solidFill>
            <a:srgbClr val="5C5F4A"/>
          </a:solidFill>
          <a:ln>
            <a:solidFill>
              <a:srgbClr val="5C5F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5" name="Billede 6">
            <a:extLst>
              <a:ext uri="{FF2B5EF4-FFF2-40B4-BE49-F238E27FC236}">
                <a16:creationId xmlns:a16="http://schemas.microsoft.com/office/drawing/2014/main" id="{1B138904-4C7F-4ED8-7C72-760B1313F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5773" y="2490679"/>
            <a:ext cx="4500264" cy="103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54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ut-slide Ho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3BCFA539-EC01-BEE6-51FE-AEE93DB3AD8C}"/>
              </a:ext>
            </a:extLst>
          </p:cNvPr>
          <p:cNvSpPr/>
          <p:nvPr userDrawn="1"/>
        </p:nvSpPr>
        <p:spPr>
          <a:xfrm>
            <a:off x="-1" y="-1"/>
            <a:ext cx="10691813" cy="6011863"/>
          </a:xfrm>
          <a:prstGeom prst="rect">
            <a:avLst/>
          </a:prstGeom>
          <a:solidFill>
            <a:srgbClr val="5C5F4A"/>
          </a:solidFill>
          <a:ln>
            <a:solidFill>
              <a:srgbClr val="5C5F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5" name="Billede 6">
            <a:extLst>
              <a:ext uri="{FF2B5EF4-FFF2-40B4-BE49-F238E27FC236}">
                <a16:creationId xmlns:a16="http://schemas.microsoft.com/office/drawing/2014/main" id="{666F66D6-B38A-36BF-AB87-447BCE7633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3273" b="25583"/>
          <a:stretch/>
        </p:blipFill>
        <p:spPr>
          <a:xfrm>
            <a:off x="3095774" y="2742406"/>
            <a:ext cx="4500264" cy="52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51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3CEAA3F-C1D0-637A-0E27-B06ECCFB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59" y="245493"/>
            <a:ext cx="9488489" cy="7744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 dirty="0"/>
              <a:t>Overskrift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12D528-1B9A-5314-9FF3-CE63ABD8C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1659" y="1564368"/>
            <a:ext cx="9488489" cy="3814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BBBE7F2-6A4E-FCBB-1309-2DE7F5892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85085" y="5687409"/>
            <a:ext cx="2405062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FA8C2-600D-420D-8C79-33897368C59E}" type="slidenum">
              <a:rPr lang="da-DK" smtClean="0"/>
              <a:pPr/>
              <a:t>‹nr.›</a:t>
            </a:fld>
            <a:endParaRPr lang="da-DK" dirty="0"/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1F70A783-DA69-A7E7-792F-2CF95760B1E4}"/>
              </a:ext>
            </a:extLst>
          </p:cNvPr>
          <p:cNvCxnSpPr>
            <a:cxnSpLocks/>
          </p:cNvCxnSpPr>
          <p:nvPr userDrawn="1"/>
        </p:nvCxnSpPr>
        <p:spPr>
          <a:xfrm>
            <a:off x="601658" y="746699"/>
            <a:ext cx="9488489" cy="0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8">
            <a:extLst>
              <a:ext uri="{FF2B5EF4-FFF2-40B4-BE49-F238E27FC236}">
                <a16:creationId xmlns:a16="http://schemas.microsoft.com/office/drawing/2014/main" id="{FD26F04E-1C8E-AFF9-38B3-0E08555BBB75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58" y="5802695"/>
            <a:ext cx="1666874" cy="9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9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01" r:id="rId2"/>
    <p:sldLayoutId id="2147483688" r:id="rId3"/>
    <p:sldLayoutId id="2147483702" r:id="rId4"/>
    <p:sldLayoutId id="2147483726" r:id="rId5"/>
    <p:sldLayoutId id="2147483693" r:id="rId6"/>
    <p:sldLayoutId id="2147483694" r:id="rId7"/>
    <p:sldLayoutId id="2147483695" r:id="rId8"/>
    <p:sldLayoutId id="2147483698" r:id="rId9"/>
    <p:sldLayoutId id="2147483703" r:id="rId10"/>
    <p:sldLayoutId id="2147483689" r:id="rId11"/>
    <p:sldLayoutId id="2147483699" r:id="rId12"/>
    <p:sldLayoutId id="2147483690" r:id="rId13"/>
    <p:sldLayoutId id="2147483691" r:id="rId14"/>
    <p:sldLayoutId id="2147483700" r:id="rId15"/>
    <p:sldLayoutId id="2147483692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Baskerville Old Face" panose="020206020805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PSCP IV - porteføljeanalyse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Afkastkilder, kapitalstruktur og risiko · pr. 30.06.2026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t>2.  Kapitalstruktur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t>3.  Afkastspredning, tab og koncentration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t>4.  Afkast mod tid og pr. tranche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t>5.  Vintage og realiseringstakt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r>
              <a:t>6.  Porteføljen i dag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t>7.  Nøgletal i tabelform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r>
              <a:t>1.  Overblik og værdibro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996696"/>
            <a:ext cx="3163824" cy="1423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Gill Sans MT"/>
              </a:rPr>
              <a:t>Poolet TVPI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Baskerville Old Face"/>
              </a:rPr>
              <a:t>1,40x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33488" y="2420112"/>
            <a:ext cx="2340864" cy="0"/>
          </a:xfrm>
          <a:prstGeom prst="line">
            <a:avLst/>
          </a:prstGeom>
          <a:ln w="9525">
            <a:solidFill>
              <a:srgbClr val="8E94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22008" y="2420112"/>
            <a:ext cx="3163824" cy="1423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Gill Sans MT"/>
              </a:rPr>
              <a:t>Investeret kapital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Baskerville Old Face"/>
              </a:rPr>
              <a:t>€2.134m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33488" y="3843528"/>
            <a:ext cx="2340864" cy="0"/>
          </a:xfrm>
          <a:prstGeom prst="line">
            <a:avLst/>
          </a:prstGeom>
          <a:ln w="9525">
            <a:solidFill>
              <a:srgbClr val="8E94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22008" y="3843528"/>
            <a:ext cx="3163824" cy="1423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Gill Sans MT"/>
              </a:rPr>
              <a:t>Selskaber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Baskerville Old Face"/>
              </a:rPr>
              <a:t>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Overblik og værdibro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vaerdib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boe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Kapitalstruktur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instrument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instrument_tv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kapitalgrup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Afkastspredning, tab og koncentration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spred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sanaly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nedskriv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k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Afkast mod tid og pr. tranche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irr_vs_m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irr_forde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holdeperi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periodeafk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pik_positio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pik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pref_positio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pref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Vintage og realiseringstakt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vintage_ka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vintage_tv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ex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Porteføljen i dag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urealisere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valu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kva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positio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ureal_strukt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ureal_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ureal_modenh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ureal_kostp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Nøgletal i tabelform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noegle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instr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vi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investeringer_s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investeringer_s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investeringer_s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positioner_s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positioner_s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positioner_s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positioner_s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positioner_s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pik_s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pik_s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scp_iv_analyse_tabel_p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0"/>
            <a:ext cx="10691813" cy="601414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Konklusion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sz="1400"/>
              <a:t>PSCP IV står pr. 30.06.2026 i 1,40x på €2.134m investeret kapital. 44 % af værdien er allerede udloddet (€1.297m), så track record'et hviler i usædvanlig grad på kasse og ikke på egne dagsværdier.</a:t>
            </a:r>
          </a:p>
          <a:p>
            <a:pPr>
              <a:spcBef>
                <a:spcPts val="1200"/>
              </a:spcBef>
            </a:pPr>
            <a:r>
              <a:rPr sz="1400"/>
              <a:t>De 42 realiserede investeringer er hjemtaget til 1,45x med en kapitalvægtet levetid på 2,7 år. Det er drivkraften bag den høje IRR: kapitalen arbejder kort og kommer hurtigt tilbage.</a:t>
            </a:r>
          </a:p>
          <a:p>
            <a:pPr>
              <a:spcBef>
                <a:spcPts val="1200"/>
              </a:spcBef>
            </a:pPr>
            <a:r>
              <a:rPr sz="1400"/>
              <a:t>Nedsiden er meget lille. Samlet tabsrate 0,9 % af investeret kapital fordelt på 5 af 105 investeringer - og hvert eneste tab ligger i egenkapital &amp; preferred. Gælden, 66 % af kapitalen, har endnu ikke tabt en euro.</a:t>
            </a:r>
          </a:p>
          <a:p>
            <a:pPr>
              <a:spcBef>
                <a:spcPts val="1200"/>
              </a:spcBef>
            </a:pPr>
            <a:r>
              <a:rPr sz="1400"/>
              <a:t>Opsiden købes til gengæld i egenkapitalen: 34 % af kapitalen giver 1,56x mod 1,31x på PIK og 1,32x på senior. Det er også der, hele tabsrisikoen sidder - grafen om IRR mod multipel viser de to forretningsmodeller side om side.</a:t>
            </a:r>
          </a:p>
          <a:p>
            <a:pPr>
              <a:spcBef>
                <a:spcPts val="1200"/>
              </a:spcBef>
            </a:pPr>
            <a:r>
              <a:rPr sz="1400"/>
              <a:t>Koncentrationen er moderat: top 5 selskaber står for 38 % af gevinsten, top 10 for 60 %, og HHI på 0,030 svarer til 33 lige store positioner.</a:t>
            </a:r>
          </a:p>
          <a:p>
            <a:pPr>
              <a:spcBef>
                <a:spcPts val="1200"/>
              </a:spcBef>
            </a:pPr>
            <a:r>
              <a:rPr sz="1400"/>
              <a:t>Seneste kvartal (31.03.2026 → 30.06.2026) gav +€38,6m i merværdi, år til dato +€74,7m. Bevægelsen er ikke jævn: 41 af 86 positioner steg og 10 faldt, og flere selskaber trækker i hver sin retning på tværs af deres trancher.</a:t>
            </a:r>
          </a:p>
          <a:p>
            <a:pPr>
              <a:spcBef>
                <a:spcPts val="1200"/>
              </a:spcBef>
            </a:pPr>
            <a:r>
              <a:rPr sz="1400"/>
              <a:t>56 % af værdien er endnu ikke afgjort, og den bog ligner ikke den, der er hjemtaget: egenkapital er 19 % af den realiserede kapital mod 43 % af den urealiserede. Track record'et er tjent på gæld; det, der er tilbage, er i højere grad egenkapital - og dermed en anden risikoprofil end historikken.</a:t>
            </a:r>
          </a:p>
          <a:p>
            <a:pPr>
              <a:spcBef>
                <a:spcPts val="1200"/>
              </a:spcBef>
            </a:pPr>
            <a:r>
              <a:rPr sz="1400"/>
              <a:t>Markene bliver revurderet: 35 positioner er skrevet op og 10 ned over de 3 opgørelser, mens kun 3 står helt stille (2 % af dagsværdien). Den urealiserede bog står i 1,36x mod 1,45x på det, der faktisk er hjemtaget - marks over eget spor er der altså ikke tale om.</a:t>
            </a:r>
          </a:p>
          <a:p>
            <a:pPr>
              <a:spcBef>
                <a:spcPts val="1200"/>
              </a:spcBef>
            </a:pPr>
            <a:r>
              <a:rPr sz="1400"/>
              <a:t>Målt som periodeafkast - hvor ind- og udbetalinger er regnet med - forrentede fonden sig med +2,07 % i kvartalet og +4,03 % år til dato.</a:t>
            </a:r>
          </a:p>
          <a:p>
            <a:pPr>
              <a:spcBef>
                <a:spcPts val="1200"/>
              </a:spcBef>
            </a:pPr>
            <a:r>
              <a:rPr sz="1400"/>
              <a:t>De to hybride delbøger måles på samme måde: PIK €864m gav +3,39 % år til dato (6,9 % p.a.), margin +3,7 % over basisrenten · Preferred €400m gav +3,91 % år til dato (8,0 % p.a.), margin +3,8 % over basisrenten. PIK tilskrives dagsværdien i stedet for at udbetale kontant, så det afkast er akkumuleret rente og ikke realiseret kasse; preferred står foran egenkapitalen, men bag gælden.</a:t>
            </a:r>
          </a:p>
          <a:p>
            <a:pPr>
              <a:spcBef>
                <a:spcPts val="1200"/>
              </a:spcBef>
            </a:pPr>
            <a:r>
              <a:rPr sz="1400"/>
              <a:t>Robustheden er den vigtigste pointe: dagsværdien skal falde 50 %, før hele gevinsten er væk, og DPI på 0,61x kan ikke tages tilbage.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sz="1400"/>
              <a:t>Datagrundlag: pscp_iv_track_record.xlsx, arket Investeringer - 105 tranche-rækker på 48 selskaber pr. 30.06.2026. Alle beløb er mio. euro brutto som rapporteret.</a:t>
            </a:r>
          </a:p>
          <a:p>
            <a:pPr>
              <a:spcBef>
                <a:spcPts val="1200"/>
              </a:spcBef>
            </a:pPr>
            <a:r>
              <a:rPr sz="1400"/>
              <a:t>Forhold beregnes altid på summerede beløb (TVPI = samlet værdi / investeret kapital), aldrig som gennemsnit af multipler. GP's egen Money Multiple bruges kun som kontrol: den er afrundet og upålidelig på småpositioner.</a:t>
            </a:r>
          </a:p>
          <a:p>
            <a:pPr>
              <a:spcBef>
                <a:spcPts val="1200"/>
              </a:spcBef>
            </a:pPr>
            <a:r>
              <a:rPr sz="1400"/>
              <a:t>Instrumenttype og valuta er udledt af Tranche-feltet, vintage af handelsdatoen og holdeperiode af exit-dato minus handelsdato. Regnearket har hverken sektor, geografi eller sponsor.</a:t>
            </a:r>
          </a:p>
          <a:p>
            <a:pPr>
              <a:spcBef>
                <a:spcPts val="1200"/>
              </a:spcBef>
            </a:pPr>
            <a:r>
              <a:rPr sz="1400"/>
              <a:t>Kapitalgrupperne er en analytisk inddeling: senior/sikret gæld (2L, TL, unitranche, delayed draw, CLO), PIK/junior gæld og egenkapital &amp; preferred.</a:t>
            </a:r>
          </a:p>
          <a:p>
            <a:pPr>
              <a:spcBef>
                <a:spcPts val="1200"/>
              </a:spcBef>
            </a:pPr>
            <a:r>
              <a:rPr sz="1400"/>
              <a:t>Tabsrate = summen af tab på positioner under 1,0x i pct. af investeret kapital. Merværdi = samlet værdi minus investeret kapital; et kapitalkald løfter begge sider lige meget og er derfor ikke værdiskabelse.</a:t>
            </a:r>
          </a:p>
          <a:p>
            <a:pPr>
              <a:spcBef>
                <a:spcPts val="1200"/>
              </a:spcBef>
            </a:pPr>
            <a:r>
              <a:rPr sz="1400"/>
              <a:t>Den urealiserede bog er de rækker uden exit-dato. "Til kostpris" er 0,95-1,05x, og en position kaldes moden efter 2 år. "Uændret mark" betyder uændret dagsværdi i hvert eneste skridt mellem opgørelserne, ikke blot fra første til sidste.</a:t>
            </a:r>
          </a:p>
          <a:p>
            <a:pPr>
              <a:spcBef>
                <a:spcPts val="1200"/>
              </a:spcBef>
            </a:pPr>
            <a:r>
              <a:rPr sz="1400"/>
              <a:t>Periodeafkast er beregnet som Modified Dietz: (dagsværdi ultimo − dagsværdi primo + udbetalinger − indbetalinger) ÷ (dagsværdi primo + ½ indbetalinger). Tælleren er det absolutte afkast, renset for ind- og udbetalinger; nævneren er den kapital, der reelt var i arbejde. Indbetalinger vægtes midt i perioden, fordi filen ikke rummer datoer inde i kvartalet.</a:t>
            </a:r>
          </a:p>
          <a:p>
            <a:pPr>
              <a:spcBef>
                <a:spcPts val="1200"/>
              </a:spcBef>
            </a:pPr>
            <a:r>
              <a:rPr sz="1400"/>
              <a:t>År til dato kædes - kvartalsafkastene ganges sammen, ikke lægges sammen. Q1's ind- og udbetalinger er store nok til, at én lang Dietz-periode ville vægte dem forkert. Til sammenligning med basisrenten annualiseres afkastet - (1 + periodeafkast) opløftet i 4 divideret med antal kvartaler, minus 1 - og måles mod 3M-fixingen i trancherens egen valuta; margin = afkast p.a. − basisrente p.a.</a:t>
            </a:r>
          </a:p>
          <a:p>
            <a:pPr>
              <a:spcBef>
                <a:spcPts val="1200"/>
              </a:spcBef>
            </a:pPr>
            <a:r>
              <a:rPr sz="1400"/>
              <a:t>Alle dimensioner er afstemt mod råfilens totaler, før nogen graf er tegnet - se arket Afstemning i Excel-eksporten.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Forbehold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sz="1400"/>
              <a:t>Der er ingen daterede cashflows i datagrundlaget - kun kumulative opgørelser pr. rapportdato. Derfor kan der ikke beregnes en fonds-IRR, og de viste IRR'er er GP's egne pr. handel (7 er oplyst som NM og indgår ikke).</a:t>
            </a:r>
          </a:p>
          <a:p>
            <a:pPr>
              <a:spcBef>
                <a:spcPts val="1200"/>
              </a:spcBef>
            </a:pPr>
            <a:r>
              <a:rPr sz="1400"/>
              <a:t>Filen indeholder kun 3 rapportdatoer (31.12.2025, 31.03.2026, 30.06.2026). Der kan derfor ikke tegnes en tidsserie, en J-kurve eller en deploymentkurve - kun enkeltstående periodeændringer.</a:t>
            </a:r>
          </a:p>
          <a:p>
            <a:pPr>
              <a:spcBef>
                <a:spcPts val="1200"/>
              </a:spcBef>
            </a:pPr>
            <a:r>
              <a:rPr sz="1400"/>
              <a:t>Investeret kapital og udlodninger er lavere end kvartalet før. Kumulative tal kan ikke falde, så tidligere rapportering må være korrigeret; kvartalsændringerne skal læses med det forbehold.</a:t>
            </a:r>
          </a:p>
          <a:p>
            <a:pPr>
              <a:spcBef>
                <a:spcPts val="1200"/>
              </a:spcBef>
            </a:pPr>
            <a:r>
              <a:rPr sz="1400"/>
              <a:t>Basisrenterne er indtastet manuelt i konfigurationscellen (€ 2.00% · $ 4.25% · £ 3.95% ved seneste fixing) og ikke hentet fra en kilde. De skal bekræftes mod de faktiske fixinger, før marginerne bruges eksternt; CAD, CHF, SEK har ingen egen kurve og følger €.</a:t>
            </a:r>
          </a:p>
          <a:p>
            <a:pPr>
              <a:spcBef>
                <a:spcPts val="1200"/>
              </a:spcBef>
            </a:pPr>
            <a:r>
              <a:rPr sz="1400"/>
              <a:t>Alle tal er brutto for de underliggende investeringer. Hverken managementhonorar, carry eller fondsomkostninger på PSCP IV-niveau er fratrukket, så nettoafkastet til investor er lavere.</a:t>
            </a:r>
          </a:p>
          <a:p>
            <a:pPr>
              <a:spcBef>
                <a:spcPts val="1200"/>
              </a:spcBef>
            </a:pPr>
            <a:r>
              <a:rPr sz="1400"/>
              <a:t>56 % af værdien er urealiseret og dermed GP's egen værdiansættelse. Nedskrivningsgrafen viser følsomheden, men er en illustration, ikke en forventning.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Test til ny master">
  <a:themeElements>
    <a:clrScheme name="PPIM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5C5F4A"/>
      </a:accent1>
      <a:accent2>
        <a:srgbClr val="0B3041"/>
      </a:accent2>
      <a:accent3>
        <a:srgbClr val="775F55"/>
      </a:accent3>
      <a:accent4>
        <a:srgbClr val="96A2B8"/>
      </a:accent4>
      <a:accent5>
        <a:srgbClr val="B49C8E"/>
      </a:accent5>
      <a:accent6>
        <a:srgbClr val="5B677D"/>
      </a:accent6>
      <a:hlink>
        <a:srgbClr val="F7B615"/>
      </a:hlink>
      <a:folHlink>
        <a:srgbClr val="C28C06"/>
      </a:folHlink>
    </a:clrScheme>
    <a:fontScheme name="Master">
      <a:majorFont>
        <a:latin typeface="Baskerville Old Fac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B882AE8C20DC458EC1E712FA8CC499" ma:contentTypeVersion="7" ma:contentTypeDescription="Create a new document." ma:contentTypeScope="" ma:versionID="fcf7af21ab63afd0fdd75f5683e73e03">
  <xsd:schema xmlns:xsd="http://www.w3.org/2001/XMLSchema" xmlns:xs="http://www.w3.org/2001/XMLSchema" xmlns:p="http://schemas.microsoft.com/office/2006/metadata/properties" xmlns:ns3="99538d2a-3963-4e9f-b479-21185d147228" xmlns:ns4="c587d449-4521-4418-bafa-ba0f9c315dd1" targetNamespace="http://schemas.microsoft.com/office/2006/metadata/properties" ma:root="true" ma:fieldsID="033bd692e80f495089b990a126eb7676" ns3:_="" ns4:_="">
    <xsd:import namespace="99538d2a-3963-4e9f-b479-21185d147228"/>
    <xsd:import namespace="c587d449-4521-4418-bafa-ba0f9c315d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EventHashCode" minOccurs="0"/>
                <xsd:element ref="ns3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538d2a-3963-4e9f-b479-21185d1472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87d449-4521-4418-bafa-ba0f9c315dd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F4892E-A357-4F16-A2A4-9AE0B843270F}">
  <ds:schemaRefs>
    <ds:schemaRef ds:uri="http://www.w3.org/XML/1998/namespace"/>
    <ds:schemaRef ds:uri="http://schemas.microsoft.com/office/2006/documentManagement/types"/>
    <ds:schemaRef ds:uri="99538d2a-3963-4e9f-b479-21185d147228"/>
    <ds:schemaRef ds:uri="http://schemas.microsoft.com/office/2006/metadata/properties"/>
    <ds:schemaRef ds:uri="http://purl.org/dc/dcmitype/"/>
    <ds:schemaRef ds:uri="http://purl.org/dc/elements/1.1/"/>
    <ds:schemaRef ds:uri="c587d449-4521-4418-bafa-ba0f9c315dd1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ABE100E-FF14-41F8-A3FA-C01805B249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4AFCB5-9461-4AA4-B6C1-B1BC25709E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538d2a-3963-4e9f-b479-21185d147228"/>
    <ds:schemaRef ds:uri="c587d449-4521-4418-bafa-ba0f9c315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45992</TotalTime>
  <Words>6</Words>
  <Application>Microsoft Office PowerPoint</Application>
  <PresentationFormat>Brugerdefineret</PresentationFormat>
  <Paragraphs>6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2" baseType="lpstr">
      <vt:lpstr>Aptos</vt:lpstr>
      <vt:lpstr>Arial</vt:lpstr>
      <vt:lpstr>Baskerville Old Face</vt:lpstr>
      <vt:lpstr>Calibri</vt:lpstr>
      <vt:lpstr>Gill Sans MT</vt:lpstr>
      <vt:lpstr>Test til ny master</vt:lpstr>
      <vt:lpstr>Titel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Mark Iversen</dc:creator>
  <cp:lastModifiedBy>Rasmus Klitte Andersen</cp:lastModifiedBy>
  <cp:revision>1074</cp:revision>
  <cp:lastPrinted>2024-10-29T13:53:47Z</cp:lastPrinted>
  <dcterms:created xsi:type="dcterms:W3CDTF">2018-07-20T08:43:38Z</dcterms:created>
  <dcterms:modified xsi:type="dcterms:W3CDTF">2026-04-01T07:45:16Z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0x010100A6B882AE8C20DC458EC1E712FA8CC499</vt:lpwstr>
  </property>
</Properties>
</file>